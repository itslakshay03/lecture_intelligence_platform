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6"/>
  </p:handout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0018713" cy="68881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2F3B9E-0895-4436-9799-7F7AB680298F}" v="1" dt="2026-09-09T14:34:28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ayanand525452@outlook.com" userId="5ab00a89055e00c2" providerId="LiveId" clId="{27AD5F45-969C-4895-8B74-CE1D33F540A7}"/>
    <pc:docChg chg="custSel modSld">
      <pc:chgData name="lakshayanand525452@outlook.com" userId="5ab00a89055e00c2" providerId="LiveId" clId="{27AD5F45-969C-4895-8B74-CE1D33F540A7}" dt="2026-09-09T14:39:36.899" v="164" actId="20577"/>
      <pc:docMkLst>
        <pc:docMk/>
      </pc:docMkLst>
      <pc:sldChg chg="modSp mod">
        <pc:chgData name="lakshayanand525452@outlook.com" userId="5ab00a89055e00c2" providerId="LiveId" clId="{27AD5F45-969C-4895-8B74-CE1D33F540A7}" dt="2026-09-09T14:38:03.753" v="80" actId="20577"/>
        <pc:sldMkLst>
          <pc:docMk/>
          <pc:sldMk cId="0" sldId="257"/>
        </pc:sldMkLst>
        <pc:spChg chg="mod">
          <ac:chgData name="lakshayanand525452@outlook.com" userId="5ab00a89055e00c2" providerId="LiveId" clId="{27AD5F45-969C-4895-8B74-CE1D33F540A7}" dt="2026-09-09T14:38:03.753" v="80" actId="20577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lakshayanand525452@outlook.com" userId="5ab00a89055e00c2" providerId="LiveId" clId="{27AD5F45-969C-4895-8B74-CE1D33F540A7}" dt="2026-09-09T14:38:12.821" v="87" actId="20577"/>
        <pc:sldMkLst>
          <pc:docMk/>
          <pc:sldMk cId="0" sldId="258"/>
        </pc:sldMkLst>
        <pc:spChg chg="mod">
          <ac:chgData name="lakshayanand525452@outlook.com" userId="5ab00a89055e00c2" providerId="LiveId" clId="{27AD5F45-969C-4895-8B74-CE1D33F540A7}" dt="2026-09-09T14:38:12.821" v="87" actId="20577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lakshayanand525452@outlook.com" userId="5ab00a89055e00c2" providerId="LiveId" clId="{27AD5F45-969C-4895-8B74-CE1D33F540A7}" dt="2026-09-09T14:38:19.838" v="94" actId="20577"/>
        <pc:sldMkLst>
          <pc:docMk/>
          <pc:sldMk cId="0" sldId="259"/>
        </pc:sldMkLst>
        <pc:spChg chg="mod">
          <ac:chgData name="lakshayanand525452@outlook.com" userId="5ab00a89055e00c2" providerId="LiveId" clId="{27AD5F45-969C-4895-8B74-CE1D33F540A7}" dt="2026-09-09T14:38:19.838" v="94" actId="20577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lakshayanand525452@outlook.com" userId="5ab00a89055e00c2" providerId="LiveId" clId="{27AD5F45-969C-4895-8B74-CE1D33F540A7}" dt="2026-09-09T14:38:27.493" v="101" actId="20577"/>
        <pc:sldMkLst>
          <pc:docMk/>
          <pc:sldMk cId="0" sldId="260"/>
        </pc:sldMkLst>
        <pc:spChg chg="mod">
          <ac:chgData name="lakshayanand525452@outlook.com" userId="5ab00a89055e00c2" providerId="LiveId" clId="{27AD5F45-969C-4895-8B74-CE1D33F540A7}" dt="2026-09-09T14:38:27.493" v="101" actId="20577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lakshayanand525452@outlook.com" userId="5ab00a89055e00c2" providerId="LiveId" clId="{27AD5F45-969C-4895-8B74-CE1D33F540A7}" dt="2026-09-09T14:38:35.989" v="108" actId="20577"/>
        <pc:sldMkLst>
          <pc:docMk/>
          <pc:sldMk cId="0" sldId="261"/>
        </pc:sldMkLst>
        <pc:spChg chg="mod">
          <ac:chgData name="lakshayanand525452@outlook.com" userId="5ab00a89055e00c2" providerId="LiveId" clId="{27AD5F45-969C-4895-8B74-CE1D33F540A7}" dt="2026-09-09T14:38:35.989" v="108" actId="20577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lakshayanand525452@outlook.com" userId="5ab00a89055e00c2" providerId="LiveId" clId="{27AD5F45-969C-4895-8B74-CE1D33F540A7}" dt="2026-09-09T14:38:43.555" v="115" actId="20577"/>
        <pc:sldMkLst>
          <pc:docMk/>
          <pc:sldMk cId="0" sldId="262"/>
        </pc:sldMkLst>
        <pc:spChg chg="mod">
          <ac:chgData name="lakshayanand525452@outlook.com" userId="5ab00a89055e00c2" providerId="LiveId" clId="{27AD5F45-969C-4895-8B74-CE1D33F540A7}" dt="2026-09-09T14:38:43.555" v="115" actId="20577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lakshayanand525452@outlook.com" userId="5ab00a89055e00c2" providerId="LiveId" clId="{27AD5F45-969C-4895-8B74-CE1D33F540A7}" dt="2026-09-09T14:38:51.421" v="122" actId="20577"/>
        <pc:sldMkLst>
          <pc:docMk/>
          <pc:sldMk cId="0" sldId="263"/>
        </pc:sldMkLst>
        <pc:spChg chg="mod">
          <ac:chgData name="lakshayanand525452@outlook.com" userId="5ab00a89055e00c2" providerId="LiveId" clId="{27AD5F45-969C-4895-8B74-CE1D33F540A7}" dt="2026-09-09T14:38:51.421" v="122" actId="20577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lakshayanand525452@outlook.com" userId="5ab00a89055e00c2" providerId="LiveId" clId="{27AD5F45-969C-4895-8B74-CE1D33F540A7}" dt="2026-09-09T14:38:57.763" v="129" actId="20577"/>
        <pc:sldMkLst>
          <pc:docMk/>
          <pc:sldMk cId="0" sldId="264"/>
        </pc:sldMkLst>
        <pc:spChg chg="mod">
          <ac:chgData name="lakshayanand525452@outlook.com" userId="5ab00a89055e00c2" providerId="LiveId" clId="{27AD5F45-969C-4895-8B74-CE1D33F540A7}" dt="2026-09-09T14:38:57.763" v="129" actId="20577"/>
          <ac:spMkLst>
            <pc:docMk/>
            <pc:sldMk cId="0" sldId="264"/>
            <ac:spMk id="5" creationId="{00000000-0000-0000-0000-000000000000}"/>
          </ac:spMkLst>
        </pc:spChg>
      </pc:sldChg>
      <pc:sldChg chg="modSp mod">
        <pc:chgData name="lakshayanand525452@outlook.com" userId="5ab00a89055e00c2" providerId="LiveId" clId="{27AD5F45-969C-4895-8B74-CE1D33F540A7}" dt="2026-09-09T14:39:05.266" v="136" actId="20577"/>
        <pc:sldMkLst>
          <pc:docMk/>
          <pc:sldMk cId="0" sldId="265"/>
        </pc:sldMkLst>
        <pc:spChg chg="mod">
          <ac:chgData name="lakshayanand525452@outlook.com" userId="5ab00a89055e00c2" providerId="LiveId" clId="{27AD5F45-969C-4895-8B74-CE1D33F540A7}" dt="2026-09-09T14:39:05.266" v="136" actId="20577"/>
          <ac:spMkLst>
            <pc:docMk/>
            <pc:sldMk cId="0" sldId="265"/>
            <ac:spMk id="5" creationId="{00000000-0000-0000-0000-000000000000}"/>
          </ac:spMkLst>
        </pc:spChg>
      </pc:sldChg>
      <pc:sldChg chg="modSp mod">
        <pc:chgData name="lakshayanand525452@outlook.com" userId="5ab00a89055e00c2" providerId="LiveId" clId="{27AD5F45-969C-4895-8B74-CE1D33F540A7}" dt="2026-09-09T14:39:12.880" v="143" actId="20577"/>
        <pc:sldMkLst>
          <pc:docMk/>
          <pc:sldMk cId="0" sldId="266"/>
        </pc:sldMkLst>
        <pc:spChg chg="mod">
          <ac:chgData name="lakshayanand525452@outlook.com" userId="5ab00a89055e00c2" providerId="LiveId" clId="{27AD5F45-969C-4895-8B74-CE1D33F540A7}" dt="2026-09-09T14:39:12.880" v="143" actId="20577"/>
          <ac:spMkLst>
            <pc:docMk/>
            <pc:sldMk cId="0" sldId="266"/>
            <ac:spMk id="5" creationId="{00000000-0000-0000-0000-000000000000}"/>
          </ac:spMkLst>
        </pc:spChg>
      </pc:sldChg>
      <pc:sldChg chg="modSp mod">
        <pc:chgData name="lakshayanand525452@outlook.com" userId="5ab00a89055e00c2" providerId="LiveId" clId="{27AD5F45-969C-4895-8B74-CE1D33F540A7}" dt="2026-09-09T14:39:22.201" v="150" actId="20577"/>
        <pc:sldMkLst>
          <pc:docMk/>
          <pc:sldMk cId="0" sldId="267"/>
        </pc:sldMkLst>
        <pc:spChg chg="mod">
          <ac:chgData name="lakshayanand525452@outlook.com" userId="5ab00a89055e00c2" providerId="LiveId" clId="{27AD5F45-969C-4895-8B74-CE1D33F540A7}" dt="2026-09-09T14:39:22.201" v="150" actId="20577"/>
          <ac:spMkLst>
            <pc:docMk/>
            <pc:sldMk cId="0" sldId="267"/>
            <ac:spMk id="5" creationId="{00000000-0000-0000-0000-000000000000}"/>
          </ac:spMkLst>
        </pc:spChg>
      </pc:sldChg>
      <pc:sldChg chg="modSp mod">
        <pc:chgData name="lakshayanand525452@outlook.com" userId="5ab00a89055e00c2" providerId="LiveId" clId="{27AD5F45-969C-4895-8B74-CE1D33F540A7}" dt="2026-09-09T14:39:30.013" v="157" actId="20577"/>
        <pc:sldMkLst>
          <pc:docMk/>
          <pc:sldMk cId="0" sldId="268"/>
        </pc:sldMkLst>
        <pc:spChg chg="mod">
          <ac:chgData name="lakshayanand525452@outlook.com" userId="5ab00a89055e00c2" providerId="LiveId" clId="{27AD5F45-969C-4895-8B74-CE1D33F540A7}" dt="2026-09-09T14:39:30.013" v="157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 mod">
        <pc:chgData name="lakshayanand525452@outlook.com" userId="5ab00a89055e00c2" providerId="LiveId" clId="{27AD5F45-969C-4895-8B74-CE1D33F540A7}" dt="2026-09-09T14:39:36.899" v="164" actId="20577"/>
        <pc:sldMkLst>
          <pc:docMk/>
          <pc:sldMk cId="0" sldId="269"/>
        </pc:sldMkLst>
        <pc:spChg chg="mod">
          <ac:chgData name="lakshayanand525452@outlook.com" userId="5ab00a89055e00c2" providerId="LiveId" clId="{27AD5F45-969C-4895-8B74-CE1D33F540A7}" dt="2026-09-09T14:39:36.899" v="164" actId="20577"/>
          <ac:spMkLst>
            <pc:docMk/>
            <pc:sldMk cId="0" sldId="269"/>
            <ac:spMk id="5" creationId="{00000000-0000-0000-0000-000000000000}"/>
          </ac:spMkLst>
        </pc:spChg>
      </pc:sldChg>
      <pc:sldChg chg="modSp mod">
        <pc:chgData name="lakshayanand525452@outlook.com" userId="5ab00a89055e00c2" providerId="LiveId" clId="{27AD5F45-969C-4895-8B74-CE1D33F540A7}" dt="2026-09-09T14:35:38.599" v="73" actId="27636"/>
        <pc:sldMkLst>
          <pc:docMk/>
          <pc:sldMk cId="395416580" sldId="270"/>
        </pc:sldMkLst>
        <pc:spChg chg="mod">
          <ac:chgData name="lakshayanand525452@outlook.com" userId="5ab00a89055e00c2" providerId="LiveId" clId="{27AD5F45-969C-4895-8B74-CE1D33F540A7}" dt="2026-09-09T14:35:38.599" v="73" actId="27636"/>
          <ac:spMkLst>
            <pc:docMk/>
            <pc:sldMk cId="395416580" sldId="270"/>
            <ac:spMk id="2" creationId="{00000000-0000-0000-0000-000000000000}"/>
          </ac:spMkLst>
        </pc:spChg>
        <pc:spChg chg="mod">
          <ac:chgData name="lakshayanand525452@outlook.com" userId="5ab00a89055e00c2" providerId="LiveId" clId="{27AD5F45-969C-4895-8B74-CE1D33F540A7}" dt="2026-09-09T14:31:17.749" v="12" actId="20577"/>
          <ac:spMkLst>
            <pc:docMk/>
            <pc:sldMk cId="395416580" sldId="270"/>
            <ac:spMk id="2051" creationId="{00000000-0000-0000-0000-000000000000}"/>
          </ac:spMkLst>
        </pc:spChg>
        <pc:spChg chg="mod">
          <ac:chgData name="lakshayanand525452@outlook.com" userId="5ab00a89055e00c2" providerId="LiveId" clId="{27AD5F45-969C-4895-8B74-CE1D33F540A7}" dt="2026-09-09T14:33:20.666" v="69" actId="20577"/>
          <ac:spMkLst>
            <pc:docMk/>
            <pc:sldMk cId="395416580" sldId="270"/>
            <ac:spMk id="2052" creationId="{00000000-0000-0000-0000-000000000000}"/>
          </ac:spMkLst>
        </pc:spChg>
        <pc:spChg chg="mod">
          <ac:chgData name="lakshayanand525452@outlook.com" userId="5ab00a89055e00c2" providerId="LiveId" clId="{27AD5F45-969C-4895-8B74-CE1D33F540A7}" dt="2026-09-09T14:32:41.668" v="43" actId="20577"/>
          <ac:spMkLst>
            <pc:docMk/>
            <pc:sldMk cId="395416580" sldId="270"/>
            <ac:spMk id="205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41442" cy="345604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74952" y="1"/>
            <a:ext cx="4341442" cy="345604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FA7296CB-8C24-4358-8F3D-4C3ECCCBF924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42560"/>
            <a:ext cx="4341442" cy="345603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74952" y="6542560"/>
            <a:ext cx="4341442" cy="345603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72D2B5AE-2450-4079-A3BD-5E66D730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0131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7488" y="1309688"/>
            <a:ext cx="10367961" cy="2285768"/>
          </a:xfrm>
        </p:spPr>
        <p:txBody>
          <a:bodyPr rtlCol="0">
            <a:normAutofit/>
          </a:bodyPr>
          <a:lstStyle/>
          <a:p>
            <a:pPr algn="ctr" eaLnBrk="1" fontAlgn="auto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defRPr sz="2400" b="1">
                <a:solidFill>
                  <a:srgbClr val="46505F"/>
                </a:solidFill>
                <a:latin typeface="Times New Roman"/>
              </a:defRPr>
            </a:pPr>
            <a:r>
              <a:rPr dirty="0"/>
              <a:t>Project Presentation</a:t>
            </a:r>
            <a:endParaRPr lang="en-US" sz="27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 sz="1600" i="1">
                <a:solidFill>
                  <a:srgbClr val="46505F"/>
                </a:solidFill>
                <a:latin typeface="Times New Roman"/>
              </a:defRPr>
            </a:pPr>
            <a:r>
              <a:rPr dirty="0"/>
              <a:t>on</a:t>
            </a:r>
          </a:p>
          <a:p>
            <a:r>
              <a:rPr lang="en-IN" sz="3600" b="1" dirty="0" err="1">
                <a:ea typeface="+mn-lt"/>
                <a:cs typeface="+mn-lt"/>
              </a:rPr>
              <a:t>LectraAI</a:t>
            </a:r>
            <a:r>
              <a:rPr lang="en-IN" sz="3600" b="1" dirty="0">
                <a:ea typeface="+mn-lt"/>
                <a:cs typeface="+mn-lt"/>
              </a:rPr>
              <a:t>: An AI-Powered Lecture Intelligence and Personalized Learning Platform</a:t>
            </a:r>
            <a:br>
              <a:rPr lang="en-US" b="1" dirty="0"/>
            </a:br>
            <a:r>
              <a:rPr sz="2000" dirty="0"/>
              <a:t>SESSION 2026-27  |  COURSE: BCS 753</a:t>
            </a:r>
          </a:p>
        </p:txBody>
      </p:sp>
      <p:sp>
        <p:nvSpPr>
          <p:cNvPr id="2051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6858000" y="4114800"/>
            <a:ext cx="4572000" cy="2011680"/>
          </a:xfrm>
        </p:spPr>
        <p:txBody>
          <a:bodyPr/>
          <a:lstStyle/>
          <a:p>
            <a:pPr algn="l" eaLnBrk="1" hangingPunct="1">
              <a:defRPr sz="2000" b="1">
                <a:solidFill>
                  <a:srgbClr val="1B365D"/>
                </a:solidFill>
                <a:latin typeface="Times New Roman"/>
              </a:defRPr>
            </a:pPr>
            <a:r>
              <a:rPr dirty="0"/>
              <a:t>Guided By:</a:t>
            </a:r>
          </a:p>
          <a:p>
            <a:pPr>
              <a:defRPr sz="2200" b="1">
                <a:solidFill>
                  <a:srgbClr val="232832"/>
                </a:solidFill>
                <a:latin typeface="Times New Roman"/>
              </a:defRPr>
            </a:pPr>
            <a:r>
              <a:rPr dirty="0"/>
              <a:t>Ms. Shivani Garg</a:t>
            </a:r>
          </a:p>
          <a:p>
            <a:pPr>
              <a:defRPr sz="1600">
                <a:solidFill>
                  <a:srgbClr val="46505F"/>
                </a:solidFill>
                <a:latin typeface="Calibri"/>
              </a:defRPr>
            </a:pPr>
            <a:r>
              <a:rPr dirty="0"/>
              <a:t>Assistant Professor</a:t>
            </a:r>
          </a:p>
          <a:p>
            <a:pPr>
              <a:defRPr sz="1600">
                <a:solidFill>
                  <a:srgbClr val="46505F"/>
                </a:solidFill>
                <a:latin typeface="Calibri"/>
              </a:defRPr>
            </a:pPr>
            <a:r>
              <a:rPr dirty="0"/>
              <a:t>Department of </a:t>
            </a:r>
            <a:r>
              <a:rPr lang="en-IN" dirty="0"/>
              <a:t>CSE-AIML</a:t>
            </a:r>
            <a:endParaRPr dirty="0"/>
          </a:p>
        </p:txBody>
      </p:sp>
      <p:sp>
        <p:nvSpPr>
          <p:cNvPr id="2052" name="Subtitle 2"/>
          <p:cNvSpPr txBox="1">
            <a:spLocks noChangeArrowheads="1"/>
          </p:cNvSpPr>
          <p:nvPr/>
        </p:nvSpPr>
        <p:spPr bwMode="auto">
          <a:xfrm>
            <a:off x="1097280" y="4114800"/>
            <a:ext cx="5303520" cy="201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2000" b="1">
                <a:solidFill>
                  <a:srgbClr val="1B365D"/>
                </a:solidFill>
                <a:latin typeface="Times New Roman"/>
              </a:defRPr>
            </a:pPr>
            <a:r>
              <a:rPr dirty="0"/>
              <a:t>Team Members:</a:t>
            </a:r>
          </a:p>
          <a:p>
            <a:pPr>
              <a:defRPr sz="1600" b="1">
                <a:solidFill>
                  <a:srgbClr val="232832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Lakshay</a:t>
            </a:r>
            <a:r>
              <a:rPr dirty="0"/>
              <a:t> Anand  (Roll No: 2300320130137</a:t>
            </a:r>
            <a:r>
              <a:rPr lang="en-IN" dirty="0"/>
              <a:t>, IT-D</a:t>
            </a:r>
            <a:r>
              <a:rPr dirty="0"/>
              <a:t>)</a:t>
            </a:r>
          </a:p>
          <a:p>
            <a:pPr>
              <a:defRPr sz="1600" b="1">
                <a:solidFill>
                  <a:srgbClr val="232832"/>
                </a:solidFill>
                <a:latin typeface="Calibri"/>
              </a:defRPr>
            </a:pPr>
            <a:r>
              <a:rPr dirty="0"/>
              <a:t>  Harshit Chaudhary  (Roll No: 2300320130113</a:t>
            </a:r>
            <a:r>
              <a:rPr lang="en-IN" dirty="0"/>
              <a:t>, IT-D</a:t>
            </a:r>
            <a:r>
              <a:rPr dirty="0"/>
              <a:t>)</a:t>
            </a:r>
          </a:p>
          <a:p>
            <a:pPr>
              <a:defRPr sz="1600" b="1">
                <a:solidFill>
                  <a:srgbClr val="232832"/>
                </a:solidFill>
                <a:latin typeface="Calibri"/>
              </a:defRPr>
            </a:pPr>
            <a:r>
              <a:rPr dirty="0"/>
              <a:t>  Ayush Mavi  (Roll No: 2300320130078</a:t>
            </a:r>
            <a:r>
              <a:rPr lang="en-IN" dirty="0"/>
              <a:t>, IT-D</a:t>
            </a:r>
            <a:r>
              <a:rPr dirty="0"/>
              <a:t>)</a:t>
            </a:r>
          </a:p>
        </p:txBody>
      </p:sp>
      <p:sp>
        <p:nvSpPr>
          <p:cNvPr id="2053" name="Title 1"/>
          <p:cNvSpPr txBox="1">
            <a:spLocks noChangeArrowheads="1"/>
          </p:cNvSpPr>
          <p:nvPr/>
        </p:nvSpPr>
        <p:spPr bwMode="auto">
          <a:xfrm>
            <a:off x="1487488" y="-3175"/>
            <a:ext cx="10367962" cy="1219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ABES Engineering College, Ghaziabad</a:t>
            </a:r>
          </a:p>
        </p:txBody>
      </p:sp>
      <p:pic>
        <p:nvPicPr>
          <p:cNvPr id="205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7150"/>
            <a:ext cx="1350963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416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182880"/>
            <a:ext cx="761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7737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IT | Review-2 | ABES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B365D"/>
                </a:solidFill>
                <a:latin typeface="Times New Roman"/>
              </a:defRPr>
            </a:pPr>
            <a:r>
              <a:t>01.  Problem Statement</a:t>
            </a:r>
          </a:p>
          <a:p>
            <a:pPr>
              <a:spcAft>
                <a:spcPts val="800"/>
              </a:spcAft>
              <a:defRPr sz="1200">
                <a:solidFill>
                  <a:srgbClr val="46505F"/>
                </a:solidFill>
                <a:latin typeface="Calibri"/>
              </a:defRPr>
            </a:pPr>
            <a:r>
              <a:t>     Problems in studying from long video lectures</a:t>
            </a:r>
          </a:p>
          <a:p>
            <a:pPr>
              <a:defRPr sz="1700" b="1">
                <a:solidFill>
                  <a:srgbClr val="1B365D"/>
                </a:solidFill>
                <a:latin typeface="Times New Roman"/>
              </a:defRPr>
            </a:pPr>
            <a:r>
              <a:t>02.  Project Objectives</a:t>
            </a:r>
          </a:p>
          <a:p>
            <a:pPr>
              <a:spcAft>
                <a:spcPts val="800"/>
              </a:spcAft>
              <a:defRPr sz="1200">
                <a:solidFill>
                  <a:srgbClr val="46505F"/>
                </a:solidFill>
                <a:latin typeface="Calibri"/>
              </a:defRPr>
            </a:pPr>
            <a:r>
              <a:t>     Main goals and deliverables of LectraAI</a:t>
            </a:r>
          </a:p>
          <a:p>
            <a:pPr>
              <a:defRPr sz="1700" b="1">
                <a:solidFill>
                  <a:srgbClr val="1B365D"/>
                </a:solidFill>
                <a:latin typeface="Times New Roman"/>
              </a:defRPr>
            </a:pPr>
            <a:r>
              <a:t>03.  Updated Methodology</a:t>
            </a:r>
          </a:p>
          <a:p>
            <a:pPr>
              <a:spcAft>
                <a:spcPts val="800"/>
              </a:spcAft>
              <a:defRPr sz="1200">
                <a:solidFill>
                  <a:srgbClr val="46505F"/>
                </a:solidFill>
                <a:latin typeface="Calibri"/>
              </a:defRPr>
            </a:pPr>
            <a:r>
              <a:t>     5-stage step-by-step system pipeline</a:t>
            </a:r>
          </a:p>
          <a:p>
            <a:pPr>
              <a:defRPr sz="1700" b="1">
                <a:solidFill>
                  <a:srgbClr val="1B365D"/>
                </a:solidFill>
                <a:latin typeface="Times New Roman"/>
              </a:defRPr>
            </a:pPr>
            <a:r>
              <a:t>04.  System Architecture</a:t>
            </a:r>
          </a:p>
          <a:p>
            <a:pPr>
              <a:spcAft>
                <a:spcPts val="800"/>
              </a:spcAft>
              <a:defRPr sz="1200">
                <a:solidFill>
                  <a:srgbClr val="46505F"/>
                </a:solidFill>
                <a:latin typeface="Calibri"/>
              </a:defRPr>
            </a:pPr>
            <a:r>
              <a:t>     System modules and technology stack</a:t>
            </a:r>
          </a:p>
          <a:p>
            <a:pPr>
              <a:defRPr sz="1700" b="1">
                <a:solidFill>
                  <a:srgbClr val="1B365D"/>
                </a:solidFill>
                <a:latin typeface="Times New Roman"/>
              </a:defRPr>
            </a:pPr>
            <a:r>
              <a:t>05.  Dataset &amp; Experimental Setup</a:t>
            </a:r>
          </a:p>
          <a:p>
            <a:pPr>
              <a:spcAft>
                <a:spcPts val="800"/>
              </a:spcAft>
              <a:defRPr sz="1200">
                <a:solidFill>
                  <a:srgbClr val="46505F"/>
                </a:solidFill>
                <a:latin typeface="Calibri"/>
              </a:defRPr>
            </a:pPr>
            <a:r>
              <a:t>     7 real CS lectures and evaluation baselines</a:t>
            </a:r>
          </a:p>
          <a:p>
            <a:pPr>
              <a:defRPr sz="1700" b="1">
                <a:solidFill>
                  <a:srgbClr val="1B365D"/>
                </a:solidFill>
                <a:latin typeface="Times New Roman"/>
              </a:defRPr>
            </a:pPr>
            <a:r>
              <a:t>06.  Implementation Progress</a:t>
            </a:r>
          </a:p>
          <a:p>
            <a:pPr>
              <a:spcAft>
                <a:spcPts val="800"/>
              </a:spcAft>
              <a:defRPr sz="1200">
                <a:solidFill>
                  <a:srgbClr val="46505F"/>
                </a:solidFill>
                <a:latin typeface="Calibri"/>
              </a:defRPr>
            </a:pPr>
            <a:r>
              <a:t>     Completed modules and current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B365D"/>
                </a:solidFill>
                <a:latin typeface="Times New Roman"/>
              </a:defRPr>
            </a:pPr>
            <a:r>
              <a:t>07.  Working Demonstration</a:t>
            </a:r>
          </a:p>
          <a:p>
            <a:pPr>
              <a:spcAft>
                <a:spcPts val="800"/>
              </a:spcAft>
              <a:defRPr sz="1200">
                <a:solidFill>
                  <a:srgbClr val="46505F"/>
                </a:solidFill>
                <a:latin typeface="Calibri"/>
              </a:defRPr>
            </a:pPr>
            <a:r>
              <a:t>     Live web app, study pack and PDF export</a:t>
            </a:r>
          </a:p>
          <a:p>
            <a:pPr>
              <a:defRPr sz="1700" b="1">
                <a:solidFill>
                  <a:srgbClr val="1B365D"/>
                </a:solidFill>
                <a:latin typeface="Times New Roman"/>
              </a:defRPr>
            </a:pPr>
            <a:r>
              <a:t>08.  Preliminary Results</a:t>
            </a:r>
          </a:p>
          <a:p>
            <a:pPr>
              <a:spcAft>
                <a:spcPts val="800"/>
              </a:spcAft>
              <a:defRPr sz="1200">
                <a:solidFill>
                  <a:srgbClr val="46505F"/>
                </a:solidFill>
                <a:latin typeface="Calibri"/>
              </a:defRPr>
            </a:pPr>
            <a:r>
              <a:t>     Clear findings across RQ1, RQ2, RQ3, and RQ4</a:t>
            </a:r>
          </a:p>
          <a:p>
            <a:pPr>
              <a:defRPr sz="1700" b="1">
                <a:solidFill>
                  <a:srgbClr val="1B365D"/>
                </a:solidFill>
                <a:latin typeface="Times New Roman"/>
              </a:defRPr>
            </a:pPr>
            <a:r>
              <a:t>09.  Research Paper Submission Status</a:t>
            </a:r>
          </a:p>
          <a:p>
            <a:pPr>
              <a:spcAft>
                <a:spcPts val="800"/>
              </a:spcAft>
              <a:defRPr sz="1200">
                <a:solidFill>
                  <a:srgbClr val="46505F"/>
                </a:solidFill>
                <a:latin typeface="Calibri"/>
              </a:defRPr>
            </a:pPr>
            <a:r>
              <a:t>     Status of completed IEEE research paper</a:t>
            </a:r>
          </a:p>
          <a:p>
            <a:pPr>
              <a:defRPr sz="1700" b="1">
                <a:solidFill>
                  <a:srgbClr val="1B365D"/>
                </a:solidFill>
                <a:latin typeface="Times New Roman"/>
              </a:defRPr>
            </a:pPr>
            <a:r>
              <a:t>10.  Remaining Work &amp; Timeline</a:t>
            </a:r>
          </a:p>
          <a:p>
            <a:pPr>
              <a:spcAft>
                <a:spcPts val="800"/>
              </a:spcAft>
              <a:defRPr sz="1200">
                <a:solidFill>
                  <a:srgbClr val="46505F"/>
                </a:solidFill>
                <a:latin typeface="Calibri"/>
              </a:defRPr>
            </a:pPr>
            <a:r>
              <a:t>     Future evaluation and cloud deployment plans</a:t>
            </a:r>
          </a:p>
          <a:p>
            <a:pPr>
              <a:defRPr sz="1700" b="1">
                <a:solidFill>
                  <a:srgbClr val="1B365D"/>
                </a:solidFill>
                <a:latin typeface="Times New Roman"/>
              </a:defRPr>
            </a:pPr>
            <a:r>
              <a:t>11.  Challenges &amp; Solutions</a:t>
            </a:r>
          </a:p>
          <a:p>
            <a:pPr>
              <a:spcAft>
                <a:spcPts val="800"/>
              </a:spcAft>
              <a:defRPr sz="1200">
                <a:solidFill>
                  <a:srgbClr val="46505F"/>
                </a:solidFill>
                <a:latin typeface="Calibri"/>
              </a:defRPr>
            </a:pPr>
            <a:r>
              <a:t>     Technical problems faced and how we solved them</a:t>
            </a:r>
          </a:p>
          <a:p>
            <a:pPr>
              <a:defRPr sz="1700" b="1">
                <a:solidFill>
                  <a:srgbClr val="1B365D"/>
                </a:solidFill>
                <a:latin typeface="Times New Roman"/>
              </a:defRPr>
            </a:pPr>
            <a:r>
              <a:t>12.  References</a:t>
            </a:r>
          </a:p>
          <a:p>
            <a:pPr>
              <a:spcAft>
                <a:spcPts val="800"/>
              </a:spcAft>
              <a:defRPr sz="1200">
                <a:solidFill>
                  <a:srgbClr val="46505F"/>
                </a:solidFill>
                <a:latin typeface="Calibri"/>
              </a:defRPr>
            </a:pPr>
            <a:r>
              <a:t>     Standard academic references in IEEE format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182880"/>
            <a:ext cx="761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7737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IT | Review-2 | ABES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4937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50" b="1">
                <a:solidFill>
                  <a:srgbClr val="1B365D"/>
                </a:solidFill>
                <a:latin typeface="Times New Roman"/>
              </a:defRPr>
            </a:pPr>
            <a:r>
              <a:t>1. Finding Important Parts of Long Lectures Takes Time</a:t>
            </a:r>
          </a:p>
          <a:p>
            <a:pPr>
              <a:spcAft>
                <a:spcPts val="3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t>•  Students spend hours scrubbing through recorded lectures to find specific concepts or formulas.</a:t>
            </a:r>
          </a:p>
          <a:p>
            <a:pPr>
              <a:spcAft>
                <a:spcPts val="3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t>•  Re-watching long videos during revision is slow and causes study fatigue.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51560"/>
            <a:ext cx="5029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50" b="1">
                <a:solidFill>
                  <a:srgbClr val="1B365D"/>
                </a:solidFill>
                <a:latin typeface="Times New Roman"/>
              </a:defRPr>
            </a:pPr>
            <a:r>
              <a:t>2. Simple Summaries Do Not Provide Enough Study Material</a:t>
            </a:r>
          </a:p>
          <a:p>
            <a:pPr>
              <a:spcAft>
                <a:spcPts val="3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t>•  Standard AI tools generate flat text paragraphs that are not enough for exam preparation.</a:t>
            </a:r>
          </a:p>
          <a:p>
            <a:pPr>
              <a:spcAft>
                <a:spcPts val="3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t>•  Students need different study materials: organized notes, quizzes, flashcards, and interview questions.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50" b="1">
                <a:solidFill>
                  <a:srgbClr val="1B365D"/>
                </a:solidFill>
                <a:latin typeface="Times New Roman"/>
              </a:defRPr>
            </a:pPr>
            <a:r>
              <a:t>3. Using Many AI Calls Increases Processing Time and Cost</a:t>
            </a:r>
          </a:p>
          <a:p>
            <a:pPr>
              <a:spcAft>
                <a:spcPts val="3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t>•  Making separate AI calls for notes, quizzes, and flashcards takes too much time and API quota.</a:t>
            </a:r>
          </a:p>
          <a:p>
            <a:pPr>
              <a:spcAft>
                <a:spcPts val="3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t>•  Multiple AI calls also increase the risk of inconsistent or contradictory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337560"/>
            <a:ext cx="50292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50" b="1">
                <a:solidFill>
                  <a:srgbClr val="1B365D"/>
                </a:solidFill>
                <a:latin typeface="Times New Roman"/>
              </a:defRPr>
            </a:pPr>
            <a:r>
              <a:t>4. AI-Generated Timestamps Can Sometimes Be Incorrect</a:t>
            </a:r>
          </a:p>
          <a:p>
            <a:pPr>
              <a:spcAft>
                <a:spcPts val="3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t>•  Many AI tools make up timestamps or guess video times that do not match the actual lecture.</a:t>
            </a:r>
          </a:p>
          <a:p>
            <a:pPr>
              <a:spcAft>
                <a:spcPts val="3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t>•  Students need trustworthy timestamps so they can jump straight to the exact moment in the video.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6534"/>
                </a:solidFill>
                <a:latin typeface="Times New Roman"/>
              </a:defRPr>
            </a:pPr>
            <a:r>
              <a:t>Summary:  LectraAI solves these problems by converting a lecture into structured study material with useful timestamps.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182880"/>
            <a:ext cx="761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7737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IT | Review-2 | ABES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Times New Roman"/>
              </a:defRPr>
            </a:pPr>
            <a:r>
              <a:t>Objective 1: Collect Transcripts Reliably from YouTube</a:t>
            </a:r>
          </a:p>
          <a:p>
            <a:pPr>
              <a:defRPr sz="1300">
                <a:solidFill>
                  <a:srgbClr val="232832"/>
                </a:solidFill>
                <a:latin typeface="Calibri"/>
              </a:defRPr>
            </a:pPr>
            <a:r>
              <a:t>•  Download lecture captions automatically using a reliable dual-method approach, and mark timestamps at regular intervals.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Times New Roman"/>
              </a:defRPr>
            </a:pPr>
            <a:r>
              <a:t>Objective 2: Generate Clear Study Notes Using One AI Call</a:t>
            </a:r>
          </a:p>
          <a:p>
            <a:pPr>
              <a:defRPr sz="1300">
                <a:solidFill>
                  <a:srgbClr val="232832"/>
                </a:solidFill>
                <a:latin typeface="Calibri"/>
              </a:defRPr>
            </a:pPr>
            <a:r>
              <a:t>•  Use a single AI call with strict instructions so the notes are accurate and stick strictly to what the teacher explained.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Times New Roman"/>
              </a:defRPr>
            </a:pPr>
            <a:r>
              <a:t>Objective 3: Connect Topics with Valid Lecture Timestamps</a:t>
            </a:r>
          </a:p>
          <a:p>
            <a:pPr>
              <a:defRPr sz="1300">
                <a:solidFill>
                  <a:srgbClr val="232832"/>
                </a:solidFill>
                <a:latin typeface="Calibri"/>
              </a:defRPr>
            </a:pPr>
            <a:r>
              <a:t>•  Match key topics to real points in the lecture video so students can click and jump directly to that part of the video.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Times New Roman"/>
              </a:defRPr>
            </a:pPr>
            <a:r>
              <a:t>Objective 4: Create Quizzes, Flashcards &amp; Practice Questions</a:t>
            </a:r>
          </a:p>
          <a:p>
            <a:pPr>
              <a:defRPr sz="1300">
                <a:solidFill>
                  <a:srgbClr val="232832"/>
                </a:solidFill>
                <a:latin typeface="Calibri"/>
              </a:defRPr>
            </a:pPr>
            <a:r>
              <a:t>•  Automatically build quizzes, flashcards, a 5-stage revision plan, and interview questions directly from the notes without extra AI calls.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Times New Roman"/>
              </a:defRPr>
            </a:pPr>
            <a:r>
              <a:t>Objective 5: Provide a Full Web Application with PDF Export</a:t>
            </a:r>
          </a:p>
          <a:p>
            <a:pPr>
              <a:defRPr sz="1300">
                <a:solidFill>
                  <a:srgbClr val="232832"/>
                </a:solidFill>
                <a:latin typeface="Calibri"/>
              </a:defRPr>
            </a:pPr>
            <a:r>
              <a:t>•  Deliver all features through a clean, responsive web dashboard where students can read notes, take quizzes, and download printable A4 PDFs.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182880"/>
            <a:ext cx="761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Updated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7737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IT | Review-2 | ABES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Times New Roman"/>
              </a:defRPr>
            </a:pPr>
            <a:r>
              <a:t>Stage 1: Lecture Input &amp; Task Creation</a:t>
            </a:r>
          </a:p>
          <a:p>
            <a:pPr>
              <a:defRPr sz="1250">
                <a:solidFill>
                  <a:srgbClr val="232832"/>
                </a:solidFill>
                <a:latin typeface="Calibri"/>
              </a:defRPr>
            </a:pPr>
            <a:r>
              <a:t>• User enters a YouTube lecture URL on the web dashboard.</a:t>
            </a:r>
            <a:br/>
            <a:r>
              <a:t>• System creates a background task and immediately checks if a cached copy already exists.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Times New Roman"/>
              </a:defRPr>
            </a:pPr>
            <a:r>
              <a:t>Stage 2: Transcript Extraction</a:t>
            </a:r>
          </a:p>
          <a:p>
            <a:pPr>
              <a:defRPr sz="1250">
                <a:solidFill>
                  <a:srgbClr val="232832"/>
                </a:solidFill>
                <a:latin typeface="Calibri"/>
              </a:defRPr>
            </a:pPr>
            <a:r>
              <a:t>• System automatically downloads the lecture subtitles from YouTube.</a:t>
            </a:r>
            <a:br/>
            <a:r>
              <a:t>• Cleans up spoken fillers and adds regular timestamp markers throughout the transcript.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Times New Roman"/>
              </a:defRPr>
            </a:pPr>
            <a:r>
              <a:t>Stage 3: AI Note Generation</a:t>
            </a:r>
          </a:p>
          <a:p>
            <a:pPr>
              <a:defRPr sz="1250">
                <a:solidFill>
                  <a:srgbClr val="232832"/>
                </a:solidFill>
                <a:latin typeface="Calibri"/>
              </a:defRPr>
            </a:pPr>
            <a:r>
              <a:t>• One Gemini AI call creates well-structured study notes (overview, core concepts, diagrams, and tables).</a:t>
            </a:r>
            <a:br/>
            <a:r>
              <a:t>• The AI is given strict instructions to write notes based only on the lecture transcript.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Times New Roman"/>
              </a:defRPr>
            </a:pPr>
            <a:r>
              <a:t>Stage 4: Study Material Generation</a:t>
            </a:r>
          </a:p>
          <a:p>
            <a:pPr>
              <a:defRPr sz="1250">
                <a:solidFill>
                  <a:srgbClr val="232832"/>
                </a:solidFill>
                <a:latin typeface="Calibri"/>
              </a:defRPr>
            </a:pPr>
            <a:r>
              <a:t>• The generated notes are used to create: topics, timestamps, quiz questions, flashcards, revision plan, and interview questions.</a:t>
            </a:r>
            <a:br/>
            <a:r>
              <a:t>• No extra AI call is needed for these outputs — saving time and API cost.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Times New Roman"/>
              </a:defRPr>
            </a:pPr>
            <a:r>
              <a:t>Stage 5: Study Pack &amp; PDF Export</a:t>
            </a:r>
          </a:p>
          <a:p>
            <a:pPr>
              <a:defRPr sz="1250">
                <a:solidFill>
                  <a:srgbClr val="232832"/>
                </a:solidFill>
                <a:latin typeface="Calibri"/>
              </a:defRPr>
            </a:pPr>
            <a:r>
              <a:t>• All generated materials are combined into one unified study pack.</a:t>
            </a:r>
            <a:br/>
            <a:r>
              <a:t>• The user can view them in interactive web workspaces and download a clean A4 PDF.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182880"/>
            <a:ext cx="761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7737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IT | Review-2 | ABES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65D"/>
                </a:solidFill>
                <a:latin typeface="Times New Roman"/>
              </a:defRPr>
            </a:pPr>
            <a:r>
              <a:t>System Modules</a:t>
            </a:r>
          </a:p>
          <a:p>
            <a:pPr>
              <a:spcAft>
                <a:spcPts val="200"/>
              </a:spcAft>
              <a:defRPr sz="1350" b="1">
                <a:solidFill>
                  <a:srgbClr val="1E5AA0"/>
                </a:solidFill>
                <a:latin typeface="Times New Roman"/>
              </a:defRPr>
            </a:pPr>
            <a:r>
              <a:t>•  Lecture Input:  </a:t>
            </a:r>
            <a:r>
              <a:rPr b="0">
                <a:solidFill>
                  <a:srgbClr val="232832"/>
                </a:solidFill>
                <a:latin typeface="Calibri"/>
              </a:rPr>
              <a:t>User submits a YouTube lecture link on the web interface.</a:t>
            </a:r>
          </a:p>
          <a:p>
            <a:pPr>
              <a:spcAft>
                <a:spcPts val="200"/>
              </a:spcAft>
              <a:defRPr sz="1350" b="1">
                <a:solidFill>
                  <a:srgbClr val="1E5AA0"/>
                </a:solidFill>
                <a:latin typeface="Times New Roman"/>
              </a:defRPr>
            </a:pPr>
            <a:r>
              <a:t>•  Transcript Extraction:  </a:t>
            </a:r>
            <a:r>
              <a:rPr b="0">
                <a:solidFill>
                  <a:srgbClr val="232832"/>
                </a:solidFill>
                <a:latin typeface="Calibri"/>
              </a:rPr>
              <a:t>Downloads subtitles and adds timestamp markers at regular intervals.</a:t>
            </a:r>
          </a:p>
          <a:p>
            <a:pPr>
              <a:spcAft>
                <a:spcPts val="200"/>
              </a:spcAft>
              <a:defRPr sz="1350" b="1">
                <a:solidFill>
                  <a:srgbClr val="1E5AA0"/>
                </a:solidFill>
                <a:latin typeface="Times New Roman"/>
              </a:defRPr>
            </a:pPr>
            <a:r>
              <a:t>•  AI Processing:  </a:t>
            </a:r>
            <a:r>
              <a:rPr b="0">
                <a:solidFill>
                  <a:srgbClr val="232832"/>
                </a:solidFill>
                <a:latin typeface="Calibri"/>
              </a:rPr>
              <a:t>One Gemini AI call generates clean, structured study notes.</a:t>
            </a:r>
          </a:p>
          <a:p>
            <a:pPr>
              <a:spcAft>
                <a:spcPts val="200"/>
              </a:spcAft>
              <a:defRPr sz="1350" b="1">
                <a:solidFill>
                  <a:srgbClr val="1E5AA0"/>
                </a:solidFill>
                <a:latin typeface="Times New Roman"/>
              </a:defRPr>
            </a:pPr>
            <a:r>
              <a:t>•  Study Material Engine:  </a:t>
            </a:r>
            <a:r>
              <a:rPr b="0">
                <a:solidFill>
                  <a:srgbClr val="232832"/>
                </a:solidFill>
                <a:latin typeface="Calibri"/>
              </a:rPr>
              <a:t>Creates topics, timestamps, quiz, flashcards, revision, and interview questions from the notes.</a:t>
            </a:r>
          </a:p>
          <a:p>
            <a:pPr>
              <a:spcAft>
                <a:spcPts val="200"/>
              </a:spcAft>
              <a:defRPr sz="1350" b="1">
                <a:solidFill>
                  <a:srgbClr val="1E5AA0"/>
                </a:solidFill>
                <a:latin typeface="Times New Roman"/>
              </a:defRPr>
            </a:pPr>
            <a:r>
              <a:t>•  Database:  </a:t>
            </a:r>
            <a:r>
              <a:rPr b="0">
                <a:solidFill>
                  <a:srgbClr val="232832"/>
                </a:solidFill>
                <a:latin typeface="Calibri"/>
              </a:rPr>
              <a:t>Stores background task status (pending, processing, completed, failed).</a:t>
            </a:r>
          </a:p>
          <a:p>
            <a:pPr>
              <a:spcAft>
                <a:spcPts val="200"/>
              </a:spcAft>
              <a:defRPr sz="1350" b="1">
                <a:solidFill>
                  <a:srgbClr val="1E5AA0"/>
                </a:solidFill>
                <a:latin typeface="Times New Roman"/>
              </a:defRPr>
            </a:pPr>
            <a:r>
              <a:t>•  PDF Engine:  </a:t>
            </a:r>
            <a:r>
              <a:rPr b="0">
                <a:solidFill>
                  <a:srgbClr val="232832"/>
                </a:solidFill>
                <a:latin typeface="Calibri"/>
              </a:rPr>
              <a:t>Converts study material into a printable A4 PDF.</a:t>
            </a:r>
          </a:p>
          <a:p>
            <a:pPr>
              <a:spcBef>
                <a:spcPts val="400"/>
              </a:spcBef>
              <a:defRPr sz="1500" b="1">
                <a:solidFill>
                  <a:srgbClr val="1B365D"/>
                </a:solidFill>
                <a:latin typeface="Times New Roman"/>
              </a:defRPr>
            </a:pPr>
            <a:r>
              <a:t>Technology Stack:</a:t>
            </a:r>
          </a:p>
          <a:p>
            <a:pPr>
              <a:defRPr sz="1150">
                <a:solidFill>
                  <a:srgbClr val="232832"/>
                </a:solidFill>
                <a:latin typeface="Calibri"/>
              </a:defRPr>
            </a:pPr>
            <a:r>
              <a:t>  -  Frontend: React 19, Vite, Tailwind CSS / Vanilla CSS, Mermaid.js</a:t>
            </a:r>
          </a:p>
          <a:p>
            <a:pPr>
              <a:defRPr sz="1150">
                <a:solidFill>
                  <a:srgbClr val="232832"/>
                </a:solidFill>
                <a:latin typeface="Calibri"/>
              </a:defRPr>
            </a:pPr>
            <a:r>
              <a:t>  -  Backend: Python 3.10+, FastAPI, Uvicorn, SQLite3</a:t>
            </a:r>
          </a:p>
          <a:p>
            <a:pPr>
              <a:defRPr sz="1150">
                <a:solidFill>
                  <a:srgbClr val="232832"/>
                </a:solidFill>
                <a:latin typeface="Calibri"/>
              </a:defRPr>
            </a:pPr>
            <a:r>
              <a:t>  -  AI Model: Google Gemini API (gemini-3.6-flash)</a:t>
            </a:r>
          </a:p>
          <a:p>
            <a:pPr>
              <a:defRPr sz="1150">
                <a:solidFill>
                  <a:srgbClr val="232832"/>
                </a:solidFill>
                <a:latin typeface="Calibri"/>
              </a:defRPr>
            </a:pPr>
            <a:r>
              <a:t>  -  PDF Compiler: Playwright (Headless Chromium)</a:t>
            </a:r>
          </a:p>
        </p:txBody>
      </p:sp>
      <p:pic>
        <p:nvPicPr>
          <p:cNvPr id="7" name="Picture 6" descr="fig0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188720"/>
            <a:ext cx="4937760" cy="28995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55778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6505F"/>
                </a:solidFill>
                <a:latin typeface="Calibri"/>
              </a:defRPr>
            </a:pPr>
            <a:r>
              <a:t>Fig. 1: LectraAI pipeline architecture (Pink: Single AI call; Blue: Automated transformation; Grey: I/O &amp; storage).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182880"/>
            <a:ext cx="761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Dataset &amp; 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7737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IT | Review-2 | ABES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B365D"/>
                </a:solidFill>
                <a:latin typeface="Times New Roman"/>
              </a:defRPr>
            </a:pPr>
            <a:r>
              <a:t>Tested Dataset (N = 7 Real CS Lectures)</a:t>
            </a:r>
          </a:p>
          <a:p>
            <a:pPr>
              <a:spcAft>
                <a:spcPts val="200"/>
              </a:spcAft>
              <a:defRPr sz="1250">
                <a:solidFill>
                  <a:srgbClr val="232832"/>
                </a:solidFill>
                <a:latin typeface="Calibri"/>
              </a:defRPr>
            </a:pPr>
            <a:r>
              <a:t>•  7 real Computer Science lectures from YouTube were tested.</a:t>
            </a:r>
          </a:p>
          <a:p>
            <a:pPr>
              <a:spcAft>
                <a:spcPts val="200"/>
              </a:spcAft>
              <a:defRPr sz="1250">
                <a:solidFill>
                  <a:srgbClr val="232832"/>
                </a:solidFill>
                <a:latin typeface="Calibri"/>
              </a:defRPr>
            </a:pPr>
            <a:r>
              <a:t>•  Subjects covered: Operating Systems, Computer Networks, DBMS, and Artificial Intelligence.</a:t>
            </a:r>
          </a:p>
          <a:p>
            <a:pPr>
              <a:spcAft>
                <a:spcPts val="200"/>
              </a:spcAft>
              <a:defRPr sz="1250">
                <a:solidFill>
                  <a:srgbClr val="232832"/>
                </a:solidFill>
                <a:latin typeface="Calibri"/>
              </a:defRPr>
            </a:pPr>
            <a:r>
              <a:t>•  Lecture formats included comparison, architecture, algorithms, and theory.</a:t>
            </a:r>
          </a:p>
          <a:p>
            <a:pPr>
              <a:spcAft>
                <a:spcPts val="200"/>
              </a:spcAft>
              <a:defRPr sz="1250">
                <a:solidFill>
                  <a:srgbClr val="232832"/>
                </a:solidFill>
                <a:latin typeface="Calibri"/>
              </a:defRPr>
            </a:pPr>
            <a:r>
              <a:t>•  Lecture length ranged from 6.5 to 61.7 minutes (Average length: ~19.4 minutes).</a:t>
            </a:r>
          </a:p>
          <a:p>
            <a:pPr>
              <a:spcAft>
                <a:spcPts val="200"/>
              </a:spcAft>
              <a:defRPr sz="1250">
                <a:solidFill>
                  <a:srgbClr val="232832"/>
                </a:solidFill>
                <a:latin typeface="Calibri"/>
              </a:defRPr>
            </a:pPr>
            <a:r>
              <a:t>•  Transcripts ranged from about 5,300 to 59,800 characters.</a:t>
            </a:r>
          </a:p>
          <a:p>
            <a:pPr>
              <a:spcAft>
                <a:spcPts val="200"/>
              </a:spcAft>
              <a:defRPr sz="1250">
                <a:solidFill>
                  <a:srgbClr val="232832"/>
                </a:solidFill>
                <a:latin typeface="Calibri"/>
              </a:defRPr>
            </a:pPr>
            <a:r>
              <a:t>•  All lectures were in English.</a:t>
            </a:r>
          </a:p>
          <a:p>
            <a:pPr>
              <a:spcAft>
                <a:spcPts val="200"/>
              </a:spcAft>
              <a:defRPr sz="1250">
                <a:solidFill>
                  <a:srgbClr val="232832"/>
                </a:solidFill>
                <a:latin typeface="Calibri"/>
              </a:defRPr>
            </a:pPr>
            <a:r>
              <a:t>•  Google Gemini 3.6 Flash was used for all note generations (0 failures, 0 fallbacks).</a:t>
            </a:r>
          </a:p>
          <a:p>
            <a:pPr>
              <a:spcBef>
                <a:spcPts val="400"/>
              </a:spcBef>
              <a:defRPr sz="1500" b="1">
                <a:solidFill>
                  <a:srgbClr val="1B365D"/>
                </a:solidFill>
                <a:latin typeface="Times New Roman"/>
              </a:defRPr>
            </a:pPr>
            <a:r>
              <a:t>Research Comparison Baselines:</a:t>
            </a:r>
          </a:p>
          <a:p>
            <a:pPr>
              <a:defRPr sz="1150">
                <a:solidFill>
                  <a:srgbClr val="232832"/>
                </a:solidFill>
                <a:latin typeface="Calibri"/>
              </a:defRPr>
            </a:pPr>
            <a:r>
              <a:t>  -  Equal-Interval Baseline: Places timestamps evenly across the lecture video.</a:t>
            </a:r>
          </a:p>
          <a:p>
            <a:pPr>
              <a:defRPr sz="1150">
                <a:solidFill>
                  <a:srgbClr val="232832"/>
                </a:solidFill>
                <a:latin typeface="Calibri"/>
              </a:defRPr>
            </a:pPr>
            <a:r>
              <a:t>  -  Direct AI Baseline: Generates quizzes and flashcards using separate AI calls.</a:t>
            </a:r>
          </a:p>
          <a:p>
            <a:pPr>
              <a:defRPr sz="1150">
                <a:solidFill>
                  <a:srgbClr val="232832"/>
                </a:solidFill>
                <a:latin typeface="Calibri"/>
              </a:defRPr>
            </a:pPr>
            <a:r>
              <a:t>  -  Unconstrained Prompt: Tests notes generated without strict grounding instructions.</a:t>
            </a:r>
          </a:p>
          <a:p>
            <a:pPr>
              <a:defRPr sz="1150">
                <a:solidFill>
                  <a:srgbClr val="232832"/>
                </a:solidFill>
                <a:latin typeface="Calibri"/>
              </a:defRPr>
            </a:pPr>
            <a:r>
              <a:t>  -  Excluded Baseline: Traditional text summarizer (failed on spoken lecture transcripts).</a:t>
            </a:r>
          </a:p>
        </p:txBody>
      </p:sp>
      <p:pic>
        <p:nvPicPr>
          <p:cNvPr id="7" name="Picture 6" descr="fig1_dataset_duration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188720"/>
            <a:ext cx="4663440" cy="29979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55778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6505F"/>
                </a:solidFill>
                <a:latin typeface="Calibri"/>
              </a:defRPr>
            </a:pPr>
            <a:r>
              <a:t>Fig. 2: Duration distribution of the seven tested CS lectures.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182880"/>
            <a:ext cx="761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Implementation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7737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IT | Review-2 | ABES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66534"/>
                </a:solidFill>
                <a:latin typeface="Times New Roman"/>
              </a:defRPr>
            </a:pPr>
            <a:r>
              <a:t>Completed Modules:</a:t>
            </a:r>
          </a:p>
          <a:p>
            <a:pPr>
              <a:spcAft>
                <a:spcPts val="200"/>
              </a:spcAft>
              <a:defRPr sz="1250">
                <a:solidFill>
                  <a:srgbClr val="232832"/>
                </a:solidFill>
                <a:latin typeface="Calibri"/>
              </a:defRPr>
            </a:pPr>
            <a:r>
              <a:t>✓  Transcript extraction from YouTube videos</a:t>
            </a:r>
          </a:p>
          <a:p>
            <a:pPr>
              <a:spcAft>
                <a:spcPts val="200"/>
              </a:spcAft>
              <a:defRPr sz="1250">
                <a:solidFill>
                  <a:srgbClr val="232832"/>
                </a:solidFill>
                <a:latin typeface="Calibri"/>
              </a:defRPr>
            </a:pPr>
            <a:r>
              <a:t>✓  AI-based note generation using one Gemini call</a:t>
            </a:r>
          </a:p>
          <a:p>
            <a:pPr>
              <a:spcAft>
                <a:spcPts val="200"/>
              </a:spcAft>
              <a:defRPr sz="1250">
                <a:solidFill>
                  <a:srgbClr val="232832"/>
                </a:solidFill>
                <a:latin typeface="Calibri"/>
              </a:defRPr>
            </a:pPr>
            <a:r>
              <a:t>✓  Topic and timestamp generation for key moments</a:t>
            </a:r>
          </a:p>
          <a:p>
            <a:pPr>
              <a:spcAft>
                <a:spcPts val="200"/>
              </a:spcAft>
              <a:defRPr sz="1250">
                <a:solidFill>
                  <a:srgbClr val="232832"/>
                </a:solidFill>
                <a:latin typeface="Calibri"/>
              </a:defRPr>
            </a:pPr>
            <a:r>
              <a:t>✓  Quiz and flashcard generation from notes</a:t>
            </a:r>
          </a:p>
          <a:p>
            <a:pPr>
              <a:spcAft>
                <a:spcPts val="200"/>
              </a:spcAft>
              <a:defRPr sz="1250">
                <a:solidFill>
                  <a:srgbClr val="232832"/>
                </a:solidFill>
                <a:latin typeface="Calibri"/>
              </a:defRPr>
            </a:pPr>
            <a:r>
              <a:t>✓  Revision plan and interview questions generator</a:t>
            </a:r>
          </a:p>
          <a:p>
            <a:pPr>
              <a:spcAft>
                <a:spcPts val="200"/>
              </a:spcAft>
              <a:defRPr sz="1250">
                <a:solidFill>
                  <a:srgbClr val="232832"/>
                </a:solidFill>
                <a:latin typeface="Calibri"/>
              </a:defRPr>
            </a:pPr>
            <a:r>
              <a:t>✓  Printable A4 PDF generation using Playwright</a:t>
            </a:r>
          </a:p>
          <a:p>
            <a:pPr>
              <a:spcAft>
                <a:spcPts val="200"/>
              </a:spcAft>
              <a:defRPr sz="1250">
                <a:solidFill>
                  <a:srgbClr val="232832"/>
                </a:solidFill>
                <a:latin typeface="Calibri"/>
              </a:defRPr>
            </a:pPr>
            <a:r>
              <a:t>✓  Background task processing with SQLite storage</a:t>
            </a:r>
          </a:p>
          <a:p>
            <a:pPr>
              <a:spcAft>
                <a:spcPts val="200"/>
              </a:spcAft>
              <a:defRPr sz="1250">
                <a:solidFill>
                  <a:srgbClr val="232832"/>
                </a:solidFill>
                <a:latin typeface="Calibri"/>
              </a:defRPr>
            </a:pPr>
            <a:r>
              <a:t>✓  React-based web dashboard with dark and light themes</a:t>
            </a:r>
          </a:p>
          <a:p>
            <a:pPr>
              <a:spcBef>
                <a:spcPts val="400"/>
              </a:spcBef>
              <a:defRPr sz="1500" b="1">
                <a:solidFill>
                  <a:srgbClr val="46505F"/>
                </a:solidFill>
                <a:latin typeface="Times New Roman"/>
              </a:defRPr>
            </a:pPr>
            <a:r>
              <a:t>Evaluation Setup Completed:</a:t>
            </a:r>
          </a:p>
          <a:p>
            <a:pPr>
              <a:defRPr sz="1200">
                <a:solidFill>
                  <a:srgbClr val="232832"/>
                </a:solidFill>
                <a:latin typeface="Calibri"/>
              </a:defRPr>
            </a:pPr>
            <a:r>
              <a:t>✓  Human evaluation forms and instructions prepared for all 7 lectures.</a:t>
            </a:r>
          </a:p>
          <a:p>
            <a:pPr>
              <a:defRPr sz="1200">
                <a:solidFill>
                  <a:srgbClr val="232832"/>
                </a:solidFill>
                <a:latin typeface="Calibri"/>
              </a:defRPr>
            </a:pPr>
            <a:r>
              <a:t>✓  Automated unit tests completed for backend and timestamp logic.</a:t>
            </a:r>
          </a:p>
        </p:txBody>
      </p:sp>
      <p:pic>
        <p:nvPicPr>
          <p:cNvPr id="7" name="Picture 6" descr="tab_notes_17887168291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188720"/>
            <a:ext cx="4937760" cy="24439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55778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6505F"/>
                </a:solidFill>
                <a:latin typeface="Calibri"/>
              </a:defRPr>
            </a:pPr>
            <a:r>
              <a:t>Fig. 3: LectraAI Study Notes screen with explanations, diagrams, and math formulas.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182880"/>
            <a:ext cx="761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Working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7737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IT | Review-2 | ABES Engineering College</a:t>
            </a:r>
          </a:p>
        </p:txBody>
      </p:sp>
      <p:pic>
        <p:nvPicPr>
          <p:cNvPr id="6" name="Picture 5" descr="tab_overview_17887167917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4937760" cy="2443942"/>
          </a:xfrm>
          <a:prstGeom prst="rect">
            <a:avLst/>
          </a:prstGeom>
        </p:spPr>
      </p:pic>
      <p:pic>
        <p:nvPicPr>
          <p:cNvPr id="7" name="Picture 6" descr="tab_quiz_17887169303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97280"/>
            <a:ext cx="4937760" cy="24439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4892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B365D"/>
                </a:solidFill>
                <a:latin typeface="Calibri"/>
              </a:defRPr>
            </a:pPr>
            <a:r>
              <a:t>Overview Screen: Video details, processing status &amp; key lecture moments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892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B365D"/>
                </a:solidFill>
                <a:latin typeface="Calibri"/>
              </a:defRPr>
            </a:pPr>
            <a:r>
              <a:t>Interactive Quiz Screen: Multiple-choice questions with instant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B365D"/>
                </a:solidFill>
                <a:latin typeface="Times New Roman"/>
              </a:defRPr>
            </a:pPr>
            <a:r>
              <a:t>Simple User Steps:  1. Enter YouTube URL  →  2. Process the lecture  →  3. View notes &amp; timestamps  →  4. Practice Quiz &amp; Flashcards  →  5. Download PDF</a:t>
            </a:r>
          </a:p>
          <a:p>
            <a:pPr algn="ctr">
              <a:defRPr sz="1100">
                <a:solidFill>
                  <a:srgbClr val="46505F"/>
                </a:solidFill>
                <a:latin typeface="Calibri"/>
              </a:defRPr>
            </a:pPr>
            <a:r>
              <a:t>Study Materials Provided: Comprehensive Study Notes • Interactive Quiz • Active Flashcards • 5-Stage Revision Timeline • Interview Prep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182880"/>
            <a:ext cx="761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Preliminary Results (RQ1–RQ4 Analysis)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7737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IT | Review-2 | ABES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6766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1B365D"/>
                </a:solidFill>
                <a:latin typeface="Times New Roman"/>
              </a:defRPr>
            </a:pPr>
            <a:r>
              <a:t>RQ1 — Topic &amp; Timestamp Matching</a:t>
            </a:r>
          </a:p>
          <a:p>
            <a:pPr>
              <a:defRPr sz="1100" b="1">
                <a:solidFill>
                  <a:srgbClr val="232832"/>
                </a:solidFill>
                <a:latin typeface="Calibri"/>
              </a:defRPr>
            </a:pPr>
            <a:r>
              <a:t>• 56% of topics received timestamps (14 of 25 topics).</a:t>
            </a:r>
          </a:p>
          <a:p>
            <a:pPr>
              <a:defRPr sz="1100" b="1">
                <a:solidFill>
                  <a:srgbClr val="B45014"/>
                </a:solidFill>
                <a:latin typeface="Calibri"/>
              </a:defRPr>
            </a:pPr>
            <a:r>
              <a:t>  Result: Not enough human data to confirm timestamp accuracy (INCONCLUSIVE).</a:t>
            </a:r>
          </a:p>
          <a:p>
            <a:pPr>
              <a:spcAft>
                <a:spcPts val="400"/>
              </a:spcAft>
              <a:defRPr sz="1000">
                <a:solidFill>
                  <a:srgbClr val="46505F"/>
                </a:solidFill>
                <a:latin typeface="Calibri"/>
              </a:defRPr>
            </a:pPr>
            <a:r>
              <a:t>  • Average difference from simple even spacing was 147.3 seconds.</a:t>
            </a:r>
            <a:br/>
            <a:r>
              <a:t>• Two lectures received zero timestamps due to strict matching rules.</a:t>
            </a:r>
          </a:p>
          <a:p>
            <a:pPr>
              <a:spcAft>
                <a:spcPts val="100"/>
              </a:spcAft>
              <a:defRPr sz="1350" b="1">
                <a:solidFill>
                  <a:srgbClr val="1B365D"/>
                </a:solidFill>
                <a:latin typeface="Times New Roman"/>
              </a:defRPr>
            </a:pPr>
            <a:r>
              <a:t>RQ2 — Quiz &amp; Flashcard Quality</a:t>
            </a:r>
          </a:p>
          <a:p>
            <a:pPr>
              <a:defRPr sz="1100" b="1">
                <a:solidFill>
                  <a:srgbClr val="232832"/>
                </a:solidFill>
                <a:latin typeface="Calibri"/>
              </a:defRPr>
            </a:pPr>
            <a:r>
              <a:t>• Deterministic quiz: 44.4% unique options  |  Direct AI quiz: 100% unique options.</a:t>
            </a:r>
          </a:p>
          <a:p>
            <a:pPr>
              <a:defRPr sz="1100" b="1">
                <a:solidFill>
                  <a:srgbClr val="B45014"/>
                </a:solidFill>
                <a:latin typeface="Calibri"/>
              </a:defRPr>
            </a:pPr>
            <a:r>
              <a:t>  Result: More testing with humans is needed for quality (INCONCLUSIVE).</a:t>
            </a:r>
          </a:p>
          <a:p>
            <a:pPr>
              <a:spcAft>
                <a:spcPts val="400"/>
              </a:spcAft>
              <a:defRPr sz="1000">
                <a:solidFill>
                  <a:srgbClr val="46505F"/>
                </a:solidFill>
                <a:latin typeface="Calibri"/>
              </a:defRPr>
            </a:pPr>
            <a:r>
              <a:t>  • Flashcard answers match notes exactly (100%), while direct AI paraphrases (11.1%).</a:t>
            </a:r>
          </a:p>
          <a:p>
            <a:pPr>
              <a:spcAft>
                <a:spcPts val="100"/>
              </a:spcAft>
              <a:defRPr sz="1350" b="1">
                <a:solidFill>
                  <a:srgbClr val="1B365D"/>
                </a:solidFill>
                <a:latin typeface="Times New Roman"/>
              </a:defRPr>
            </a:pPr>
            <a:r>
              <a:t>RQ3 — Note Grounding (Sticking to Transcript)</a:t>
            </a:r>
          </a:p>
          <a:p>
            <a:pPr>
              <a:defRPr sz="1100" b="1">
                <a:solidFill>
                  <a:srgbClr val="232832"/>
                </a:solidFill>
                <a:latin typeface="Calibri"/>
              </a:defRPr>
            </a:pPr>
            <a:r>
              <a:t>• Human evaluation is still pending.</a:t>
            </a:r>
          </a:p>
          <a:p>
            <a:pPr>
              <a:defRPr sz="1100" b="1">
                <a:solidFill>
                  <a:srgbClr val="B45014"/>
                </a:solidFill>
                <a:latin typeface="Calibri"/>
              </a:defRPr>
            </a:pPr>
            <a:r>
              <a:t>  Result: Cannot make a final claim yet (INCONCLUSIVE).</a:t>
            </a:r>
          </a:p>
          <a:p>
            <a:pPr>
              <a:spcAft>
                <a:spcPts val="400"/>
              </a:spcAft>
              <a:defRPr sz="1000">
                <a:solidFill>
                  <a:srgbClr val="46505F"/>
                </a:solidFill>
                <a:latin typeface="Calibri"/>
              </a:defRPr>
            </a:pPr>
            <a:r>
              <a:t>  • Automated text check was tested and rejected as unreliable; human testing needed.</a:t>
            </a:r>
          </a:p>
          <a:p>
            <a:pPr>
              <a:spcAft>
                <a:spcPts val="100"/>
              </a:spcAft>
              <a:defRPr sz="1350" b="1">
                <a:solidFill>
                  <a:srgbClr val="1B365D"/>
                </a:solidFill>
                <a:latin typeface="Times New Roman"/>
              </a:defRPr>
            </a:pPr>
            <a:r>
              <a:t>RQ4 — Processing Time &amp; Reliability</a:t>
            </a:r>
          </a:p>
          <a:p>
            <a:pPr>
              <a:defRPr sz="1100" b="1">
                <a:solidFill>
                  <a:srgbClr val="232832"/>
                </a:solidFill>
                <a:latin typeface="Calibri"/>
              </a:defRPr>
            </a:pPr>
            <a:r>
              <a:t>• Average processing time: 39.21 seconds  |  Failures: 0 out of 7.</a:t>
            </a:r>
          </a:p>
          <a:p>
            <a:pPr>
              <a:defRPr sz="1100" b="1">
                <a:solidFill>
                  <a:srgbClr val="166534"/>
                </a:solidFill>
                <a:latin typeface="Calibri"/>
              </a:defRPr>
            </a:pPr>
            <a:r>
              <a:t>  Result: System is fast and reliable for tested lectures (SUPPORTED for N = 7).</a:t>
            </a:r>
          </a:p>
          <a:p>
            <a:pPr>
              <a:spcAft>
                <a:spcPts val="400"/>
              </a:spcAft>
              <a:defRPr sz="1000">
                <a:solidFill>
                  <a:srgbClr val="46505F"/>
                </a:solidFill>
                <a:latin typeface="Calibri"/>
              </a:defRPr>
            </a:pPr>
            <a:r>
              <a:t>  • Strong relationship with transcript length (r = 0.98). AI note generation takes ~58% of time.</a:t>
            </a:r>
          </a:p>
          <a:p>
            <a:pPr>
              <a:spcBef>
                <a:spcPts val="200"/>
              </a:spcBef>
              <a:defRPr sz="1150" b="1">
                <a:solidFill>
                  <a:srgbClr val="1B365D"/>
                </a:solidFill>
                <a:latin typeface="Times New Roman"/>
              </a:defRPr>
            </a:pPr>
            <a:r>
              <a:t>Key Takeaway:  LectraAI processes the tested lectures reliably, but human evaluation is still needed for content quality and timestamp accuracy.</a:t>
            </a:r>
          </a:p>
        </p:txBody>
      </p:sp>
      <p:pic>
        <p:nvPicPr>
          <p:cNvPr id="7" name="Picture 6" descr="fig4_latency_vs_transcript_leng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005840"/>
            <a:ext cx="3749039" cy="2423160"/>
          </a:xfrm>
          <a:prstGeom prst="rect">
            <a:avLst/>
          </a:prstGeom>
        </p:spPr>
      </p:pic>
      <p:pic>
        <p:nvPicPr>
          <p:cNvPr id="8" name="Picture 7" descr="fig2_topic_timestamp_cover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566160"/>
            <a:ext cx="3749039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182880"/>
            <a:ext cx="761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Research Paper Submission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7737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IT | Review-2 | ABES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6583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365D"/>
                </a:solidFill>
                <a:latin typeface="Times New Roman"/>
              </a:defRPr>
            </a:pPr>
            <a:r>
              <a:t>Research Paper Status</a:t>
            </a:r>
          </a:p>
          <a:p>
            <a:pPr>
              <a:defRPr sz="1500" b="1">
                <a:solidFill>
                  <a:srgbClr val="166534"/>
                </a:solidFill>
                <a:latin typeface="Times New Roman"/>
              </a:defRPr>
            </a:pPr>
            <a:r>
              <a:t>✓  Paper Prepared</a:t>
            </a:r>
          </a:p>
          <a:p>
            <a:pPr>
              <a:spcAft>
                <a:spcPts val="600"/>
              </a:spcAft>
              <a:defRPr sz="1200">
                <a:solidFill>
                  <a:srgbClr val="232832"/>
                </a:solidFill>
                <a:latin typeface="Calibri"/>
              </a:defRPr>
            </a:pPr>
            <a:r>
              <a:t>• Full research manuscript written in standard IEEE two-column format.</a:t>
            </a:r>
            <a:br/>
            <a:r>
              <a:t>• Exactly 6 pages complete with 6 figures, 4 tables, and 19 references.</a:t>
            </a:r>
            <a:br/>
            <a:r>
              <a:t>• Formats generated: PDF, Word (.docx), LaTeX (.tex), and Markdown.</a:t>
            </a:r>
          </a:p>
          <a:p>
            <a:pPr>
              <a:defRPr sz="1500" b="1">
                <a:solidFill>
                  <a:srgbClr val="166534"/>
                </a:solidFill>
                <a:latin typeface="Times New Roman"/>
              </a:defRPr>
            </a:pPr>
            <a:r>
              <a:t>✓  Faculty Guide Reviewed and Approved</a:t>
            </a:r>
          </a:p>
          <a:p>
            <a:pPr>
              <a:spcAft>
                <a:spcPts val="600"/>
              </a:spcAft>
              <a:defRPr sz="1200">
                <a:solidFill>
                  <a:srgbClr val="232832"/>
                </a:solidFill>
                <a:latin typeface="Calibri"/>
              </a:defRPr>
            </a:pPr>
            <a:r>
              <a:t>• Thoroughly reviewed and approved by project guide: Ms. Shivani Garg (Assistant Professor, Department of CE/IT, ABES Engineering College).</a:t>
            </a:r>
            <a:br/>
            <a:r>
              <a:t>• System methodology and honest evaluation reporting verified.</a:t>
            </a:r>
          </a:p>
          <a:p>
            <a:pPr>
              <a:defRPr sz="1500" b="1">
                <a:solidFill>
                  <a:srgbClr val="1E5AA0"/>
                </a:solidFill>
                <a:latin typeface="Times New Roman"/>
              </a:defRPr>
            </a:pPr>
            <a:r>
              <a:t>→  Conference/Journal Submission: Pending</a:t>
            </a:r>
          </a:p>
          <a:p>
            <a:pPr>
              <a:spcAft>
                <a:spcPts val="600"/>
              </a:spcAft>
              <a:defRPr sz="1200">
                <a:solidFill>
                  <a:srgbClr val="232832"/>
                </a:solidFill>
                <a:latin typeface="Calibri"/>
              </a:defRPr>
            </a:pPr>
            <a:r>
              <a:t>• The research paper is completed and approved by the project guide.</a:t>
            </a:r>
            <a:br/>
            <a:r>
              <a:t>• External submission is still pending and will follow the college review process.</a:t>
            </a:r>
            <a:br/>
            <a:r>
              <a:t>• (No submission ID or conference name finalized yet).</a:t>
            </a:r>
          </a:p>
          <a:p>
            <a:pPr>
              <a:defRPr sz="1400" b="1">
                <a:solidFill>
                  <a:srgbClr val="1B365D"/>
                </a:solidFill>
                <a:latin typeface="Times New Roman"/>
              </a:defRPr>
            </a:pPr>
            <a:r>
              <a:t>Research Paper Title:</a:t>
            </a:r>
          </a:p>
          <a:p>
            <a:pPr>
              <a:defRPr sz="1200" i="1">
                <a:solidFill>
                  <a:srgbClr val="232832"/>
                </a:solidFill>
                <a:latin typeface="Calibri"/>
              </a:defRPr>
            </a:pPr>
            <a:r>
              <a:t>"LectraAI: An AI-Assisted Lecture-to-Study-Pack Framework with Duration-Bounded Timestamp Grounding and Deterministic Multi-Format Artifact Transformation"</a:t>
            </a:r>
          </a:p>
          <a:p>
            <a:pPr>
              <a:defRPr sz="1200" b="1">
                <a:solidFill>
                  <a:srgbClr val="46505F"/>
                </a:solidFill>
                <a:latin typeface="Calibri"/>
              </a:defRPr>
            </a:pPr>
            <a:r>
              <a:t>Authors: Lakshay Anand, Harshit Chaudhary, Ayush Mavi</a:t>
            </a:r>
          </a:p>
        </p:txBody>
      </p:sp>
      <p:pic>
        <p:nvPicPr>
          <p:cNvPr id="7" name="Picture 6" descr="p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051560"/>
            <a:ext cx="3383280" cy="47834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56235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B365D"/>
                </a:solidFill>
                <a:latin typeface="Calibri"/>
              </a:defRPr>
            </a:pPr>
            <a:r>
              <a:t>Completed IEEE Paper (Page 1 of 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182880"/>
            <a:ext cx="761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Remaining Work &amp; Future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7737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IT | Review-2 | ABES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10332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B365D"/>
                </a:solidFill>
                <a:latin typeface="Times New Roman"/>
              </a:defRPr>
            </a:pPr>
            <a:r>
              <a:t>1. Collect Human Ratings for Timestamp Accuracy</a:t>
            </a:r>
          </a:p>
          <a:p>
            <a:pPr>
              <a:spcAft>
                <a:spcPts val="700"/>
              </a:spcAft>
              <a:defRPr sz="1200">
                <a:solidFill>
                  <a:srgbClr val="232832"/>
                </a:solidFill>
                <a:latin typeface="Calibri"/>
              </a:defRPr>
            </a:pPr>
            <a:r>
              <a:t>•  Have students and teachers verify if topic timestamps accurately match what is being taught in the video.</a:t>
            </a:r>
          </a:p>
          <a:p>
            <a:pPr>
              <a:defRPr sz="1450" b="1">
                <a:solidFill>
                  <a:srgbClr val="1B365D"/>
                </a:solidFill>
                <a:latin typeface="Times New Roman"/>
              </a:defRPr>
            </a:pPr>
            <a:r>
              <a:t>2. Test the System on 18–20 Lectures</a:t>
            </a:r>
          </a:p>
          <a:p>
            <a:pPr>
              <a:spcAft>
                <a:spcPts val="700"/>
              </a:spcAft>
              <a:defRPr sz="1200">
                <a:solidFill>
                  <a:srgbClr val="232832"/>
                </a:solidFill>
                <a:latin typeface="Calibri"/>
              </a:defRPr>
            </a:pPr>
            <a:r>
              <a:t>•  Expand the test set from 7 lectures to 18–20 lectures across more computer science subjects.</a:t>
            </a:r>
          </a:p>
          <a:p>
            <a:pPr>
              <a:defRPr sz="1450" b="1">
                <a:solidFill>
                  <a:srgbClr val="1B365D"/>
                </a:solidFill>
                <a:latin typeface="Times New Roman"/>
              </a:defRPr>
            </a:pPr>
            <a:r>
              <a:t>3. Add More Coding and Numerical Lectures</a:t>
            </a:r>
          </a:p>
          <a:p>
            <a:pPr>
              <a:spcAft>
                <a:spcPts val="700"/>
              </a:spcAft>
              <a:defRPr sz="1200">
                <a:solidFill>
                  <a:srgbClr val="232832"/>
                </a:solidFill>
                <a:latin typeface="Calibri"/>
              </a:defRPr>
            </a:pPr>
            <a:r>
              <a:t>•  Include programming tutorials and math-heavy lectures to test how well the system handles code and formulas.</a:t>
            </a:r>
          </a:p>
          <a:p>
            <a:pPr>
              <a:defRPr sz="1450" b="1">
                <a:solidFill>
                  <a:srgbClr val="1B365D"/>
                </a:solidFill>
                <a:latin typeface="Times New Roman"/>
              </a:defRPr>
            </a:pPr>
            <a:r>
              <a:t>4. Improve Timestamps for Acronym-Heavy Lectures</a:t>
            </a:r>
          </a:p>
          <a:p>
            <a:pPr>
              <a:spcAft>
                <a:spcPts val="700"/>
              </a:spcAft>
              <a:defRPr sz="1200">
                <a:solidFill>
                  <a:srgbClr val="232832"/>
                </a:solidFill>
                <a:latin typeface="Calibri"/>
              </a:defRPr>
            </a:pPr>
            <a:r>
              <a:t>•  Improve matching for lectures with many short technical abbreviations (such as OSI model layers or AI algorithms).</a:t>
            </a:r>
          </a:p>
          <a:p>
            <a:pPr>
              <a:defRPr sz="1450" b="1">
                <a:solidFill>
                  <a:srgbClr val="1B365D"/>
                </a:solidFill>
                <a:latin typeface="Times New Roman"/>
              </a:defRPr>
            </a:pPr>
            <a:r>
              <a:t>5. Improve Quiz Option Generation</a:t>
            </a:r>
          </a:p>
          <a:p>
            <a:pPr>
              <a:spcAft>
                <a:spcPts val="700"/>
              </a:spcAft>
              <a:defRPr sz="1200">
                <a:solidFill>
                  <a:srgbClr val="232832"/>
                </a:solidFill>
                <a:latin typeface="Calibri"/>
              </a:defRPr>
            </a:pPr>
            <a:r>
              <a:t>•  Make wrong quiz options more topic-specific and realistic so quizzes provide better revision value.</a:t>
            </a:r>
          </a:p>
          <a:p>
            <a:pPr>
              <a:defRPr sz="1450" b="1">
                <a:solidFill>
                  <a:srgbClr val="1B365D"/>
                </a:solidFill>
                <a:latin typeface="Times New Roman"/>
              </a:defRPr>
            </a:pPr>
            <a:r>
              <a:t>6. Move from Local SQLite to Cloud PostgreSQL</a:t>
            </a:r>
          </a:p>
          <a:p>
            <a:pPr>
              <a:spcAft>
                <a:spcPts val="700"/>
              </a:spcAft>
              <a:defRPr sz="1200">
                <a:solidFill>
                  <a:srgbClr val="232832"/>
                </a:solidFill>
                <a:latin typeface="Calibri"/>
              </a:defRPr>
            </a:pPr>
            <a:r>
              <a:t>•  Upgrade the database to support multiple users simultaneously with secure account management.</a:t>
            </a:r>
          </a:p>
          <a:p>
            <a:pPr>
              <a:defRPr sz="1450" b="1">
                <a:solidFill>
                  <a:srgbClr val="1B365D"/>
                </a:solidFill>
                <a:latin typeface="Times New Roman"/>
              </a:defRPr>
            </a:pPr>
            <a:r>
              <a:t>7. Deploy the System on Cloud Infrastructure</a:t>
            </a:r>
          </a:p>
          <a:p>
            <a:pPr>
              <a:spcAft>
                <a:spcPts val="700"/>
              </a:spcAft>
              <a:defRPr sz="1200">
                <a:solidFill>
                  <a:srgbClr val="232832"/>
                </a:solidFill>
                <a:latin typeface="Calibri"/>
              </a:defRPr>
            </a:pPr>
            <a:r>
              <a:t>•  Package the web application in Docker containers and host it online for public student access.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182880"/>
            <a:ext cx="761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7737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IT | Review-2 | ABES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10332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Times New Roman"/>
              </a:defRPr>
            </a:pPr>
            <a:r>
              <a:t>Challenge: Lecture transcripts often have poor punctuation.</a:t>
            </a:r>
          </a:p>
          <a:p>
            <a:pPr>
              <a:defRPr sz="1200">
                <a:solidFill>
                  <a:srgbClr val="232832"/>
                </a:solidFill>
                <a:latin typeface="Calibri"/>
              </a:defRPr>
            </a:pPr>
            <a:r>
              <a:t>• Problem: Spoken speech from YouTube lacks full stops and commas, which breaks normal text summarizers.</a:t>
            </a:r>
          </a:p>
          <a:p>
            <a:pPr>
              <a:spcAft>
                <a:spcPts val="800"/>
              </a:spcAft>
              <a:defRPr sz="1200" b="1">
                <a:solidFill>
                  <a:srgbClr val="166534"/>
                </a:solidFill>
                <a:latin typeface="Calibri"/>
              </a:defRPr>
            </a:pPr>
            <a:r>
              <a:t>• Solution: Use AI to understand and structure the raw transcript directly.</a:t>
            </a:r>
          </a:p>
          <a:p>
            <a:pPr>
              <a:defRPr sz="1500" b="1">
                <a:solidFill>
                  <a:srgbClr val="1B365D"/>
                </a:solidFill>
                <a:latin typeface="Times New Roman"/>
              </a:defRPr>
            </a:pPr>
            <a:r>
              <a:t>Challenge: Long lectures can cause API timeouts.</a:t>
            </a:r>
          </a:p>
          <a:p>
            <a:pPr>
              <a:defRPr sz="1200">
                <a:solidFill>
                  <a:srgbClr val="232832"/>
                </a:solidFill>
                <a:latin typeface="Calibri"/>
              </a:defRPr>
            </a:pPr>
            <a:r>
              <a:t>• Problem: Processing a 60-minute lecture takes time, which can cause the web page to time out or freeze.</a:t>
            </a:r>
          </a:p>
          <a:p>
            <a:pPr>
              <a:spcAft>
                <a:spcPts val="800"/>
              </a:spcAft>
              <a:defRPr sz="1200" b="1">
                <a:solidFill>
                  <a:srgbClr val="166534"/>
                </a:solidFill>
                <a:latin typeface="Calibri"/>
              </a:defRPr>
            </a:pPr>
            <a:r>
              <a:t>• Solution: Process lectures in the background and reuse cached results.</a:t>
            </a:r>
          </a:p>
          <a:p>
            <a:pPr>
              <a:defRPr sz="1500" b="1">
                <a:solidFill>
                  <a:srgbClr val="1B365D"/>
                </a:solidFill>
                <a:latin typeface="Times New Roman"/>
              </a:defRPr>
            </a:pPr>
            <a:r>
              <a:t>Challenge: Some technical lectures produce poor timestamps.</a:t>
            </a:r>
          </a:p>
          <a:p>
            <a:pPr>
              <a:defRPr sz="1200">
                <a:solidFill>
                  <a:srgbClr val="232832"/>
                </a:solidFill>
                <a:latin typeface="Calibri"/>
              </a:defRPr>
            </a:pPr>
            <a:r>
              <a:t>• Problem: Lectures with many short abbreviations (like OSI layers) did not match keyword rules, giving 0% coverage on 2 lectures.</a:t>
            </a:r>
          </a:p>
          <a:p>
            <a:pPr>
              <a:spcAft>
                <a:spcPts val="800"/>
              </a:spcAft>
              <a:defRPr sz="1200" b="1">
                <a:solidFill>
                  <a:srgbClr val="166534"/>
                </a:solidFill>
                <a:latin typeface="Calibri"/>
              </a:defRPr>
            </a:pPr>
            <a:r>
              <a:t>• Solution: Keep timestamps strictly within the lecture duration, and improve matching in future work.</a:t>
            </a:r>
          </a:p>
          <a:p>
            <a:pPr>
              <a:defRPr sz="1500" b="1">
                <a:solidFill>
                  <a:srgbClr val="1B365D"/>
                </a:solidFill>
                <a:latin typeface="Times New Roman"/>
              </a:defRPr>
            </a:pPr>
            <a:r>
              <a:t>Challenge: Some quiz options were too similar.</a:t>
            </a:r>
          </a:p>
          <a:p>
            <a:pPr>
              <a:defRPr sz="1200">
                <a:solidFill>
                  <a:srgbClr val="232832"/>
                </a:solidFill>
                <a:latin typeface="Calibri"/>
              </a:defRPr>
            </a:pPr>
            <a:r>
              <a:t>• Problem: Using fixed templates meant some incorrect options were repeated across different questions.</a:t>
            </a:r>
          </a:p>
          <a:p>
            <a:pPr>
              <a:spcAft>
                <a:spcPts val="800"/>
              </a:spcAft>
              <a:defRPr sz="1200" b="1">
                <a:solidFill>
                  <a:srgbClr val="166534"/>
                </a:solidFill>
                <a:latin typeface="Calibri"/>
              </a:defRPr>
            </a:pPr>
            <a:r>
              <a:t>• Solution: Documented this clearly in the paper, and will use topic-based option generation in future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182880"/>
            <a:ext cx="761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7737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rPr lang="en-US" dirty="0"/>
              <a:t>Department of IT | Review-2 | ABES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232832"/>
                </a:solidFill>
                <a:latin typeface="Times New Roman"/>
              </a:defRPr>
            </a:pPr>
            <a:r>
              <a:t>[1] E. Apostolidis, E. Adamantidou, A. I. Metsai, V. Mezaris, and I. Patras, 'Video summarization using deep neural networks: A survey,' arXiv:2101.06072, 2021.</a:t>
            </a:r>
          </a:p>
          <a:p>
            <a:pPr>
              <a:spcAft>
                <a:spcPts val="1200"/>
              </a:spcAft>
              <a:defRPr sz="1100">
                <a:solidFill>
                  <a:srgbClr val="232832"/>
                </a:solidFill>
                <a:latin typeface="Times New Roman"/>
              </a:defRPr>
            </a:pPr>
            <a:r>
              <a:t>[2] D. W. Lee, C. Ahuja, P. P. Liang, S. Natu, and L.-P. Morency, 'Multimodal lecture presentations dataset: Understanding multimodality in educational slides,' in Proc. IEEE/CVF ICCV, 2023.</a:t>
            </a:r>
          </a:p>
          <a:p>
            <a:pPr>
              <a:spcAft>
                <a:spcPts val="1200"/>
              </a:spcAft>
              <a:defRPr sz="1100">
                <a:solidFill>
                  <a:srgbClr val="232832"/>
                </a:solidFill>
                <a:latin typeface="Times New Roman"/>
              </a:defRPr>
            </a:pPr>
            <a:r>
              <a:t>[3] C. Xu, R. Wang, S. Lin, X. Luo, B. Zhao, L. Shao, and M. Hu, 'Lecture2Note: Automatic generation of lecture notes from slide-based educational videos,' in Proc. IEEE ICME, 2019, pp. 898–903.</a:t>
            </a:r>
          </a:p>
          <a:p>
            <a:pPr>
              <a:spcAft>
                <a:spcPts val="1200"/>
              </a:spcAft>
              <a:defRPr sz="1100">
                <a:solidFill>
                  <a:srgbClr val="232832"/>
                </a:solidFill>
                <a:latin typeface="Times New Roman"/>
              </a:defRPr>
            </a:pPr>
            <a:r>
              <a:t>[4] T. Shahzad, T. Mazhar, M. U. Tariq, W. Ahmad, K. Ouahada, and H. Hamam, 'A comprehensive review of large language models: Issues and solutions in learning environments,' Discover Sustainability, Springer, 2025.</a:t>
            </a:r>
          </a:p>
          <a:p>
            <a:pPr>
              <a:spcAft>
                <a:spcPts val="1200"/>
              </a:spcAft>
              <a:defRPr sz="1100">
                <a:solidFill>
                  <a:srgbClr val="232832"/>
                </a:solidFill>
                <a:latin typeface="Times New Roman"/>
              </a:defRPr>
            </a:pPr>
            <a:r>
              <a:t>[5] J. Lin, J. Rao, Y. Zhao, Y. Wang, A. Gurung, A. Barany, J. Ocumpaugh, R. S. Baker, and K. R. Koedinger, 'Automatic large language models creation of interactive learning lessons,' arXiv:2506.17356, 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51560"/>
            <a:ext cx="5029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232832"/>
                </a:solidFill>
                <a:latin typeface="Times New Roman"/>
              </a:defRPr>
            </a:pPr>
            <a:r>
              <a:t>[6] N. Scaria, S. D. Chenna, and D. Subramani, 'Automated educational question generation at different Bloom's skill levels using large language models: Strategies and evaluation,' in Proc. AIED, 2024.</a:t>
            </a:r>
          </a:p>
          <a:p>
            <a:pPr>
              <a:spcAft>
                <a:spcPts val="1200"/>
              </a:spcAft>
              <a:defRPr sz="1100">
                <a:solidFill>
                  <a:srgbClr val="232832"/>
                </a:solidFill>
                <a:latin typeface="Times New Roman"/>
              </a:defRPr>
            </a:pPr>
            <a:r>
              <a:t>[7] E. Alhazmi, Q. Z. Sheng, W. E. Zhang, M. Zaib, and A. Alhazmi, 'Distractor generation in multiple-choice tasks: A survey of methods, datasets, and evaluation,' in Proc. EMNLP, 2024.</a:t>
            </a:r>
          </a:p>
          <a:p>
            <a:pPr>
              <a:spcAft>
                <a:spcPts val="1200"/>
              </a:spcAft>
              <a:defRPr sz="1100">
                <a:solidFill>
                  <a:srgbClr val="232832"/>
                </a:solidFill>
                <a:latin typeface="Times New Roman"/>
              </a:defRPr>
            </a:pPr>
            <a:r>
              <a:t>[8] B. Tabibian, U. Upadhyay, A. De, A. Zarezade, B. Schölkopf, and M. Gomez-Rodriguez, 'Enhancing human learning via spaced repetition optimization,' Proc. National Academy of Sciences (PNAS), vol. 116, no. 10, pp. 3988–3993, 2019.</a:t>
            </a:r>
          </a:p>
          <a:p>
            <a:pPr>
              <a:spcAft>
                <a:spcPts val="1200"/>
              </a:spcAft>
              <a:defRPr sz="1100">
                <a:solidFill>
                  <a:srgbClr val="232832"/>
                </a:solidFill>
                <a:latin typeface="Times New Roman"/>
              </a:defRPr>
            </a:pPr>
            <a:r>
              <a:t>[9] H. Zhang, A. Sun, W. Jing, and J. T. Zhou, 'Temporal sentence grounding in videos: A survey and future directions,' IEEE Trans. Pattern Analysis and Machine Intelligence, 2023.</a:t>
            </a:r>
          </a:p>
          <a:p>
            <a:pPr>
              <a:spcAft>
                <a:spcPts val="1200"/>
              </a:spcAft>
              <a:defRPr sz="1100">
                <a:solidFill>
                  <a:srgbClr val="232832"/>
                </a:solidFill>
                <a:latin typeface="Times New Roman"/>
              </a:defRPr>
            </a:pPr>
            <a:r>
              <a:t>[10] R. Zhao, Z. Jiang, X. Zhang, C. Chang, H. Chen, W. Deng, L. Jin, X. Qi, X. Qian, and E. C. H. Ngai, 'NoteIt: A system converting instructional videos to interactable notes through multimodal video understanding,' in Proc. ACM UIST,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2780</Words>
  <Application>Microsoft Office PowerPoint</Application>
  <PresentationFormat>Widescreen</PresentationFormat>
  <Paragraphs>204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Project Presentation on LectraAI: An AI-Powered Lecture Intelligence and Personalized Learning Platform SESSION 2026-27  |  COURSE: BCS 753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Project Presentation on &lt;Title of the Project&gt; SESSION 2026-27 BCS 753</dc:title>
  <dc:subject/>
  <dc:creator/>
  <cp:keywords/>
  <dc:description>generated using python-pptx</dc:description>
  <cp:lastModifiedBy>lakshayanand525452@outlook.com</cp:lastModifiedBy>
  <cp:revision>5</cp:revision>
  <cp:lastPrinted>2026-07-24T04:31:12Z</cp:lastPrinted>
  <dcterms:created xsi:type="dcterms:W3CDTF">2013-01-27T09:14:16Z</dcterms:created>
  <dcterms:modified xsi:type="dcterms:W3CDTF">2026-09-09T14:39:40Z</dcterms:modified>
  <cp:category/>
</cp:coreProperties>
</file>